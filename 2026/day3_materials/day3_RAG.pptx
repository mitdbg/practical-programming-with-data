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75" r:id="rId6"/>
    <p:sldId id="257" r:id="rId7"/>
    <p:sldId id="258" r:id="rId8"/>
    <p:sldId id="274" r:id="rId9"/>
    <p:sldId id="273" r:id="rId10"/>
    <p:sldId id="276" r:id="rId11"/>
    <p:sldId id="270" r:id="rId12"/>
    <p:sldId id="271" r:id="rId13"/>
    <p:sldId id="272" r:id="rId14"/>
    <p:sldId id="269" r:id="rId15"/>
    <p:sldId id="262" r:id="rId16"/>
    <p:sldId id="265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41D"/>
    <a:srgbClr val="00A7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4"/>
    <p:restoredTop sz="94673"/>
  </p:normalViewPr>
  <p:slideViewPr>
    <p:cSldViewPr snapToGrid="0">
      <p:cViewPr varScale="1">
        <p:scale>
          <a:sx n="115" d="100"/>
          <a:sy n="115" d="100"/>
        </p:scale>
        <p:origin x="968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C980B-89A1-4E4E-BCC9-FE1AAC5D374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4B231-4F0E-F149-BA6B-91C287DC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5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4B231-4F0E-F149-BA6B-91C287DCD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4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4B231-4F0E-F149-BA6B-91C287DCD3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91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4B231-4F0E-F149-BA6B-91C287DCD36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42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A07E-3B64-AB46-F8CF-0744C856EB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82707" y="1480580"/>
            <a:ext cx="4421171" cy="2387600"/>
          </a:xfrm>
          <a:prstGeom prst="rect">
            <a:avLst/>
          </a:prstGeom>
        </p:spPr>
        <p:txBody>
          <a:bodyPr anchor="b"/>
          <a:lstStyle>
            <a:lvl1pPr algn="r">
              <a:defRPr sz="60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28E46-B2D1-5ADE-CF4A-2E82B7B255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82707" y="3960255"/>
            <a:ext cx="4421171" cy="1309327"/>
          </a:xfrm>
        </p:spPr>
        <p:txBody>
          <a:bodyPr/>
          <a:lstStyle>
            <a:lvl1pPr marL="0" indent="0" algn="r">
              <a:buNone/>
              <a:defRPr sz="2400" b="0" i="0">
                <a:latin typeface="Neue Haas Grotesk Text Pro" panose="020B05040202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  <p:pic>
        <p:nvPicPr>
          <p:cNvPr id="16" name="Picture 15" descr="A colorful circles and lines&#10;&#10;Description automatically generated">
            <a:extLst>
              <a:ext uri="{FF2B5EF4-FFF2-40B4-BE49-F238E27FC236}">
                <a16:creationId xmlns:a16="http://schemas.microsoft.com/office/drawing/2014/main" id="{F8D683FC-661D-7959-754E-52532AFD85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103" y="-12701"/>
            <a:ext cx="6675603" cy="6145968"/>
          </a:xfrm>
          <a:prstGeom prst="rect">
            <a:avLst/>
          </a:prstGeom>
        </p:spPr>
      </p:pic>
      <p:pic>
        <p:nvPicPr>
          <p:cNvPr id="14" name="Picture 13" descr="A logo with blue letters&#10;&#10;Description automatically generated">
            <a:extLst>
              <a:ext uri="{FF2B5EF4-FFF2-40B4-BE49-F238E27FC236}">
                <a16:creationId xmlns:a16="http://schemas.microsoft.com/office/drawing/2014/main" id="{67838ABF-8AC7-6252-A767-C53386243E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5994" y="5377420"/>
            <a:ext cx="5251124" cy="1480580"/>
          </a:xfrm>
          <a:prstGeom prst="rect">
            <a:avLst/>
          </a:prstGeom>
        </p:spPr>
      </p:pic>
      <p:pic>
        <p:nvPicPr>
          <p:cNvPr id="18" name="Picture 17" descr="A black and blue rectangle&#10;&#10;Description automatically generated">
            <a:extLst>
              <a:ext uri="{FF2B5EF4-FFF2-40B4-BE49-F238E27FC236}">
                <a16:creationId xmlns:a16="http://schemas.microsoft.com/office/drawing/2014/main" id="{D71F47EA-CE94-0504-84F3-536D0B6DBE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27757" y="0"/>
            <a:ext cx="2176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264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circles and lines&#10;&#10;Description automatically generated">
            <a:extLst>
              <a:ext uri="{FF2B5EF4-FFF2-40B4-BE49-F238E27FC236}">
                <a16:creationId xmlns:a16="http://schemas.microsoft.com/office/drawing/2014/main" id="{8F991851-CA5C-67F1-8A55-0651E47A6A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80858" y="2588654"/>
            <a:ext cx="4811142" cy="426934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BEDB8-9241-03E1-5712-8A9CBF09B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24726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F495B7-99DC-FF6D-3FF0-CCAC8B70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5"/>
            <a:ext cx="6904808" cy="6906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CD09FD-C9BE-9516-E02D-25299583A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953D-26F7-4D49-AD84-4C4224623F74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05E6CE-42CC-F87C-F69B-F89AE042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917BC3-38B3-131D-3B08-8ACA7929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457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D5D383-E6BB-A44A-2CB1-0F3D1A5F2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145"/>
            <a:ext cx="6904808" cy="69067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CF0CFB2-ACD1-0E7D-D8EC-BB3E34C8A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953D-26F7-4D49-AD84-4C4224623F74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061CCBB-493F-0360-D432-B7F9787C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38D84CF-1FF1-6A78-D87E-AA831135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3B032109-6A3E-75BB-0F6E-DF83F512745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200" y="1825625"/>
            <a:ext cx="10515600" cy="36083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26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orful circles and lines&#10;&#10;Description automatically generated">
            <a:extLst>
              <a:ext uri="{FF2B5EF4-FFF2-40B4-BE49-F238E27FC236}">
                <a16:creationId xmlns:a16="http://schemas.microsoft.com/office/drawing/2014/main" id="{FC613CB8-8643-2130-F81D-E2976D6FF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80858" y="2588654"/>
            <a:ext cx="4811142" cy="426934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A0343-B068-85C5-BBB1-63E3AFB64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16396" y="1530657"/>
            <a:ext cx="4599037" cy="4004904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56B41-C81D-CBDA-8CCC-FAE5486F7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5428" y="1530657"/>
            <a:ext cx="4599037" cy="4004904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D394AF-EF5A-7767-B728-EC01E94BA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8968" y="279617"/>
            <a:ext cx="5535561" cy="690677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Header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884EB-8B8A-9493-B3D8-03E8B659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953D-26F7-4D49-AD84-4C4224623F74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6D44-1496-AE2B-FC7B-507D6EE76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BF1CE-5AFF-50A2-464E-AED9EA2F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A black background with black text&#10;&#10;Description automatically generated">
            <a:extLst>
              <a:ext uri="{FF2B5EF4-FFF2-40B4-BE49-F238E27FC236}">
                <a16:creationId xmlns:a16="http://schemas.microsoft.com/office/drawing/2014/main" id="{A84536C8-E4BA-ECB9-14E3-8659CBBB4A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879" y="5936552"/>
            <a:ext cx="1287887" cy="90259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2726DB0-6BA7-E7CA-6D94-4E25D23BC145}"/>
              </a:ext>
            </a:extLst>
          </p:cNvPr>
          <p:cNvSpPr/>
          <p:nvPr userDrawn="1"/>
        </p:nvSpPr>
        <p:spPr>
          <a:xfrm>
            <a:off x="-12879" y="-8323"/>
            <a:ext cx="1270000" cy="5924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with blue letters&#10;&#10;Description automatically generated">
            <a:extLst>
              <a:ext uri="{FF2B5EF4-FFF2-40B4-BE49-F238E27FC236}">
                <a16:creationId xmlns:a16="http://schemas.microsoft.com/office/drawing/2014/main" id="{BBF6AFBC-4B7F-6FAF-D9EB-4C34E4293F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16370" y="624"/>
            <a:ext cx="4675630" cy="131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68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C44D-08C8-3744-942C-41F6DB41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95D5A-D6F1-6F0D-638A-9EB9C8B5C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E060B-742F-F5E7-F0FA-948F0A3790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2A4B7-BF7E-BD9D-D208-DBED489D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297D-BEFD-685A-B4F3-6E11CB2E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2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29FD-6D35-F302-F885-54AF84FED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D3763-3791-18EB-7333-CF216B11D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29D3D-8B45-D72A-E7E6-D16170B1E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D3643-BFD5-BB9D-2F93-754C4E09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1320D-E7FF-7A86-4FAA-F1ED3F773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7CF09D-E988-159C-F057-A998A19E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8812F-507F-ED96-1837-D114AD98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38B33-1297-B9DC-B357-B618BEEA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6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6873-C849-B69E-2553-022929B7F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E84D7-1EEA-31BD-393D-09BE1EC2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5289A-B5AC-4C32-3466-F99CD8FE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9F073-F52E-41F0-DE14-C1A13A85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0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9565D-0923-B2A9-0142-96E57917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D6979-AA29-2DB9-0EE1-DBE81B52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256FC-463A-0ED6-A57E-21394B4D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01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3BC3-B844-7268-113D-BE623DB2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29A3B-5196-50EC-8BB0-2069FACC3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60BFA-6797-C70E-EE4E-8A8DAB5A0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25921-6F7D-48E3-E8AF-52A04E58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A6703-6C39-C21A-D1C1-F425923B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DA69C-72D1-6521-AC24-B81AFDCC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31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7964-34E5-1D1C-0C59-21EF5306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1265D-A086-591A-B3A4-D033EF840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92421-FBFD-7612-2E0C-2A5E139EC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E8A92-CFD9-FEE1-464A-678AFEF6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D745F-7ABD-7DAB-7510-FB0FCA4D0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08DA1-0EB6-791D-EC0C-8E899C67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0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1705D-C836-4498-FA61-C164B547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547348-B438-D49E-E324-E31466562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25734-73E8-373C-5F8F-00057628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8BF7F-1A20-F994-38D9-74CA71CF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2703F-844F-1E3D-491D-7340AE89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37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63E9B-3BC1-72B7-99DD-0138E64E7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D4E45-FB60-7970-76D9-6712DCD65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971A7-814D-A8C0-4CA6-356AC28F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F5953D-26F7-4D49-AD84-4C4224623F7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3CEC3-BA72-11E9-E243-C7B6D16A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21667-C7D2-BC65-9332-00BF4D9D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E31460-E7C1-A042-A3B2-276E1142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9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4223F-B4E7-C3E1-B874-087A72DE8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098B455-2E3F-C98B-F66E-C0CF3D88C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51728" y="6209027"/>
            <a:ext cx="2129672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rgbClr val="00A79D"/>
                </a:solidFill>
                <a:latin typeface="+mn-lt"/>
              </a:defRPr>
            </a:lvl1pPr>
          </a:lstStyle>
          <a:p>
            <a:fld id="{DEF5953D-26F7-4D49-AD84-4C4224623F74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F645DB8-DA1D-C4FE-5B3E-AA4144DF6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8991" y="6209027"/>
            <a:ext cx="3294017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rgbClr val="00A79D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801876C-9C54-726E-7075-A0E485384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5751" y="6209026"/>
            <a:ext cx="2208049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0" i="0">
                <a:solidFill>
                  <a:srgbClr val="00A79D"/>
                </a:solidFill>
                <a:latin typeface="+mn-lt"/>
              </a:defRPr>
            </a:lvl1pPr>
          </a:lstStyle>
          <a:p>
            <a:fld id="{1DE31460-E7C1-A042-A3B2-276E1142E9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6C454C1A-ADA3-4595-C6CB-0E29EEA6E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908"/>
            <a:ext cx="6904808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C03A7-6611-1CF3-DFDE-9BD8F925B2E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1409125"/>
          </a:xfrm>
          <a:prstGeom prst="rect">
            <a:avLst/>
          </a:prstGeom>
        </p:spPr>
      </p:pic>
      <p:pic>
        <p:nvPicPr>
          <p:cNvPr id="12" name="Picture 11" descr="A black background with black text&#10;&#10;Description automatically generated">
            <a:extLst>
              <a:ext uri="{FF2B5EF4-FFF2-40B4-BE49-F238E27FC236}">
                <a16:creationId xmlns:a16="http://schemas.microsoft.com/office/drawing/2014/main" id="{105F108E-A1A9-ADDE-C220-2115315E63D8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12879" y="5936552"/>
            <a:ext cx="1287887" cy="90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9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51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orcd-ood.mit.ed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url?sa=i&amp;url=https%3A%2F%2Fmedium.com%2F%40smoothed9%2Fretrieval-augmented-generation-rag-with-spring-ai-a68bc0c57fcc&amp;psig=AOvVaw03iHR1j7Cd6m6Lau_BMcMG&amp;ust=1749129702977000&amp;source=images&amp;cd=vfe&amp;opi=89978449&amp;ved=0CBQQjRxqFwoTCICWvobu140DFQAAAAAdAAAAABA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google.com/url?sa=i&amp;url=https%3A%2F%2Fmedium.com%2Fdata-science%2Fall-you-need-to-know-about-vector-databases-and-how-to-use-them-to-augment-your-llm-apps-596f39adfedb&amp;psig=AOvVaw2pHzN1nGWtLPzMDC5xuisZ&amp;ust=1750279735096000&amp;source=images&amp;cd=vfe&amp;opi=89978449&amp;ved=0CBQQjRxqFwoTCOCdpaGq-Y0DFQAAAAAdAAAAABA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python.langchain.com%2Fdocs%2Fconcepts%2Fvectorstores%2F&amp;psig=AOvVaw2pHzN1nGWtLPzMDC5xuisZ&amp;ust=1750279735096000&amp;source=images&amp;cd=vfe&amp;opi=89978449&amp;ved=0CBQQjRxqFwoTCOCdpaGq-Y0DFQAAAAAdAAAAABA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tdbg/practical-programming-with-dat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mistralai/Ministral-8B-Instruct-2410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settings/token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8E4E58-CBA8-BDF5-0F5B-FA802634E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9254" y="2235200"/>
            <a:ext cx="4421171" cy="2387600"/>
          </a:xfrm>
        </p:spPr>
        <p:txBody>
          <a:bodyPr>
            <a:noAutofit/>
          </a:bodyPr>
          <a:lstStyle/>
          <a:p>
            <a:r>
              <a:rPr lang="en-US" sz="4800" dirty="0"/>
              <a:t>Building a RAG Pipeline on Engaging</a:t>
            </a:r>
          </a:p>
        </p:txBody>
      </p:sp>
    </p:spTree>
    <p:extLst>
      <p:ext uri="{BB962C8B-B14F-4D97-AF65-F5344CB8AC3E}">
        <p14:creationId xmlns:p14="http://schemas.microsoft.com/office/powerpoint/2010/main" val="246957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452047-CF02-7F8E-78D3-1B2649469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account on Engaging: </a:t>
            </a:r>
            <a:r>
              <a:rPr lang="en-US" dirty="0">
                <a:hlinkClick r:id="rId2"/>
              </a:rPr>
              <a:t>orcd-ood.mit.edu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ABE35B-06F1-ADDF-BA32-BFF6AE54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</a:t>
            </a:r>
          </a:p>
        </p:txBody>
      </p:sp>
    </p:spTree>
    <p:extLst>
      <p:ext uri="{BB962C8B-B14F-4D97-AF65-F5344CB8AC3E}">
        <p14:creationId xmlns:p14="http://schemas.microsoft.com/office/powerpoint/2010/main" val="577321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17D36D-CF7E-3D82-1990-FF91A45E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RAG?</a:t>
            </a:r>
          </a:p>
        </p:txBody>
      </p:sp>
      <p:pic>
        <p:nvPicPr>
          <p:cNvPr id="2050" name="Picture 2" descr="Retrieval Augmented Generation (RAG) with Spring AI | by Sudeep Moothedath  | Feb, 2025 | Medium">
            <a:extLst>
              <a:ext uri="{FF2B5EF4-FFF2-40B4-BE49-F238E27FC236}">
                <a16:creationId xmlns:a16="http://schemas.microsoft.com/office/drawing/2014/main" id="{014C5FE1-E75F-67EB-DEBB-24FC76C55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697" b="95758" l="4214" r="93143">
                        <a14:foregroundMark x1="7000" y1="39879" x2="6071" y2="39152"/>
                        <a14:foregroundMark x1="16643" y1="17939" x2="16643" y2="17939"/>
                        <a14:foregroundMark x1="21214" y1="14788" x2="42929" y2="12364"/>
                        <a14:foregroundMark x1="24929" y1="15636" x2="52786" y2="12000"/>
                        <a14:foregroundMark x1="52786" y1="12000" x2="64714" y2="12242"/>
                        <a14:foregroundMark x1="64714" y1="12242" x2="71429" y2="12000"/>
                        <a14:foregroundMark x1="71429" y1="12000" x2="76714" y2="12848"/>
                        <a14:foregroundMark x1="12366" y1="16816" x2="17143" y2="20606"/>
                        <a14:foregroundMark x1="17143" y1="20606" x2="32339" y2="21713"/>
                        <a14:foregroundMark x1="69450" y1="21807" x2="84857" y2="20364"/>
                        <a14:foregroundMark x1="84857" y1="20364" x2="86857" y2="11515"/>
                        <a14:foregroundMark x1="86857" y1="11515" x2="82357" y2="5939"/>
                        <a14:foregroundMark x1="82357" y1="5939" x2="11861" y2="7253"/>
                        <a14:foregroundMark x1="36643" y1="41818" x2="36786" y2="51515"/>
                        <a14:foregroundMark x1="36786" y1="51515" x2="42429" y2="54424"/>
                        <a14:foregroundMark x1="42429" y1="54424" x2="59214" y2="55515"/>
                        <a14:foregroundMark x1="59214" y1="55515" x2="62357" y2="48000"/>
                        <a14:foregroundMark x1="62357" y1="48000" x2="59857" y2="39879"/>
                        <a14:foregroundMark x1="59857" y1="39879" x2="36429" y2="40242"/>
                        <a14:foregroundMark x1="48786" y1="50182" x2="42286" y2="50303"/>
                        <a14:foregroundMark x1="42286" y1="50303" x2="42357" y2="50667"/>
                        <a14:foregroundMark x1="5000" y1="39879" x2="5571" y2="49091"/>
                        <a14:foregroundMark x1="5571" y1="49091" x2="10571" y2="55515"/>
                        <a14:foregroundMark x1="10571" y1="55515" x2="17071" y2="55273"/>
                        <a14:foregroundMark x1="17071" y1="55273" x2="19000" y2="46182"/>
                        <a14:foregroundMark x1="19000" y1="46182" x2="14071" y2="39273"/>
                        <a14:foregroundMark x1="14071" y1="39273" x2="4571" y2="39758"/>
                        <a14:foregroundMark x1="80718" y1="52656" x2="85786" y2="54909"/>
                        <a14:foregroundMark x1="85786" y1="54909" x2="91357" y2="54182"/>
                        <a14:foregroundMark x1="91357" y1="54182" x2="93214" y2="44364"/>
                        <a14:foregroundMark x1="93214" y1="44364" x2="86571" y2="40000"/>
                        <a14:foregroundMark x1="86571" y1="40000" x2="80781" y2="40828"/>
                        <a14:foregroundMark x1="21357" y1="47758" x2="28786" y2="46909"/>
                        <a14:foregroundMark x1="28786" y1="46909" x2="33643" y2="46909"/>
                        <a14:foregroundMark x1="76143" y1="47273" x2="63857" y2="47636"/>
                        <a14:foregroundMark x1="64857" y1="47030" x2="75643" y2="46545"/>
                        <a14:foregroundMark x1="75643" y1="46545" x2="76143" y2="46667"/>
                        <a14:foregroundMark x1="76286" y1="47152" x2="74286" y2="48121"/>
                        <a14:foregroundMark x1="47071" y1="71879" x2="45571" y2="80970"/>
                        <a14:foregroundMark x1="45571" y1="80970" x2="49786" y2="86667"/>
                        <a14:foregroundMark x1="49786" y1="86667" x2="52429" y2="77455"/>
                        <a14:foregroundMark x1="52429" y1="77455" x2="48286" y2="70545"/>
                        <a14:foregroundMark x1="48286" y1="70545" x2="47357" y2="70424"/>
                        <a14:foregroundMark x1="52643" y1="86667" x2="50571" y2="87394"/>
                        <a14:foregroundMark x1="58714" y1="93212" x2="40786" y2="92970"/>
                        <a14:foregroundMark x1="40786" y1="92970" x2="40786" y2="92970"/>
                        <a14:foregroundMark x1="19286" y1="93333" x2="5286" y2="93818"/>
                        <a14:foregroundMark x1="9714" y1="72485" x2="10071" y2="82303"/>
                        <a14:foregroundMark x1="10071" y1="82303" x2="15357" y2="80242"/>
                        <a14:foregroundMark x1="15357" y1="80242" x2="13286" y2="69939"/>
                        <a14:foregroundMark x1="13286" y1="69939" x2="12786" y2="69455"/>
                        <a14:foregroundMark x1="49214" y1="66182" x2="49286" y2="66303"/>
                        <a14:foregroundMark x1="21143" y1="78909" x2="27071" y2="78788"/>
                        <a14:foregroundMark x1="27071" y1="78788" x2="32714" y2="78909"/>
                        <a14:foregroundMark x1="32714" y1="78909" x2="38000" y2="78182"/>
                        <a14:foregroundMark x1="38000" y1="78182" x2="22643" y2="79758"/>
                        <a14:foregroundMark x1="38214" y1="78061" x2="38571" y2="78061"/>
                        <a14:foregroundMark x1="38214" y1="77697" x2="37643" y2="79273"/>
                        <a14:foregroundMark x1="4357" y1="92242" x2="15071" y2="92606"/>
                        <a14:foregroundMark x1="15071" y1="92606" x2="19286" y2="92242"/>
                        <a14:foregroundMark x1="14214" y1="92242" x2="14429" y2="91758"/>
                        <a14:foregroundMark x1="13714" y1="92121" x2="13714" y2="91879"/>
                        <a14:foregroundMark x1="38857" y1="92606" x2="45143" y2="94667"/>
                        <a14:foregroundMark x1="45143" y1="94667" x2="57643" y2="93333"/>
                        <a14:foregroundMark x1="57643" y1="93333" x2="39786" y2="91273"/>
                        <a14:foregroundMark x1="39786" y1="91273" x2="38929" y2="92364"/>
                        <a14:foregroundMark x1="49929" y1="91879" x2="59143" y2="92242"/>
                        <a14:foregroundMark x1="59357" y1="91879" x2="58071" y2="92121"/>
                        <a14:foregroundMark x1="59286" y1="92364" x2="55786" y2="93818"/>
                        <a14:foregroundMark x1="58571" y1="94303" x2="55429" y2="94182"/>
                        <a14:foregroundMark x1="55500" y1="93939" x2="59429" y2="94303"/>
                        <a14:foregroundMark x1="59429" y1="93939" x2="59643" y2="91394"/>
                        <a14:foregroundMark x1="59429" y1="93939" x2="59643" y2="92364"/>
                        <a14:foregroundMark x1="59643" y1="94303" x2="60000" y2="92242"/>
                        <a14:foregroundMark x1="42143" y1="94424" x2="39429" y2="94424"/>
                        <a14:foregroundMark x1="43429" y1="91636" x2="44143" y2="91758"/>
                        <a14:foregroundMark x1="50429" y1="91394" x2="48000" y2="91394"/>
                        <a14:foregroundMark x1="49500" y1="66667" x2="49500" y2="66667"/>
                        <a14:foregroundMark x1="38000" y1="78303" x2="40357" y2="78424"/>
                        <a14:foregroundMark x1="39500" y1="78667" x2="38357" y2="80000"/>
                        <a14:foregroundMark x1="38786" y1="78788" x2="39571" y2="78303"/>
                        <a14:foregroundMark x1="38643" y1="78303" x2="37857" y2="76727"/>
                        <a14:foregroundMark x1="39143" y1="78061" x2="39143" y2="78061"/>
                        <a14:foregroundMark x1="38500" y1="77697" x2="39214" y2="78424"/>
                        <a14:foregroundMark x1="39143" y1="77818" x2="38571" y2="77212"/>
                        <a14:foregroundMark x1="40071" y1="79273" x2="38571" y2="80242"/>
                        <a14:foregroundMark x1="37286" y1="79636" x2="30071" y2="79636"/>
                        <a14:foregroundMark x1="34643" y1="78303" x2="21214" y2="78182"/>
                        <a14:foregroundMark x1="21357" y1="79636" x2="22143" y2="80242"/>
                        <a14:foregroundMark x1="9929" y1="56000" x2="4929" y2="52848"/>
                        <a14:foregroundMark x1="4929" y1="52848" x2="5214" y2="46545"/>
                        <a14:foregroundMark x1="8929" y1="55394" x2="4857" y2="55758"/>
                        <a14:foregroundMark x1="4429" y1="52485" x2="5000" y2="53455"/>
                        <a14:foregroundMark x1="5286" y1="55394" x2="4643" y2="54303"/>
                        <a14:foregroundMark x1="5000" y1="44485" x2="4714" y2="46909"/>
                        <a14:foregroundMark x1="5143" y1="39758" x2="10357" y2="38788"/>
                        <a14:foregroundMark x1="10357" y1="38788" x2="19500" y2="38909"/>
                        <a14:foregroundMark x1="19286" y1="39273" x2="19071" y2="47152"/>
                        <a14:foregroundMark x1="32571" y1="48485" x2="21071" y2="47273"/>
                        <a14:foregroundMark x1="21071" y1="47152" x2="26286" y2="46061"/>
                        <a14:foregroundMark x1="26286" y1="46061" x2="31571" y2="46061"/>
                        <a14:foregroundMark x1="32143" y1="45939" x2="33929" y2="47273"/>
                        <a14:foregroundMark x1="34214" y1="47152" x2="31857" y2="48727"/>
                        <a14:foregroundMark x1="31429" y1="45212" x2="31643" y2="45091"/>
                        <a14:foregroundMark x1="31857" y1="45455" x2="34286" y2="46545"/>
                        <a14:foregroundMark x1="33929" y1="47030" x2="32143" y2="48727"/>
                        <a14:foregroundMark x1="33571" y1="48000" x2="31929" y2="49333"/>
                        <a14:foregroundMark x1="33929" y1="47636" x2="33286" y2="48848"/>
                        <a14:foregroundMark x1="36643" y1="51879" x2="42643" y2="55758"/>
                        <a14:foregroundMark x1="42643" y1="55758" x2="48429" y2="56121"/>
                        <a14:foregroundMark x1="48429" y1="56121" x2="50429" y2="55879"/>
                        <a14:foregroundMark x1="41143" y1="56000" x2="37929" y2="55515"/>
                        <a14:foregroundMark x1="37857" y1="55273" x2="36214" y2="52727"/>
                        <a14:foregroundMark x1="36143" y1="42303" x2="42214" y2="39636"/>
                        <a14:foregroundMark x1="42214" y1="39636" x2="43429" y2="39879"/>
                        <a14:foregroundMark x1="36500" y1="39758" x2="43571" y2="38667"/>
                        <a14:foregroundMark x1="39714" y1="39394" x2="47000" y2="39394"/>
                        <a14:foregroundMark x1="47000" y1="39394" x2="48786" y2="39394"/>
                        <a14:foregroundMark x1="46643" y1="39273" x2="54429" y2="39273"/>
                        <a14:foregroundMark x1="49786" y1="39273" x2="55286" y2="39394"/>
                        <a14:foregroundMark x1="55286" y1="39394" x2="60286" y2="39273"/>
                        <a14:foregroundMark x1="56286" y1="39394" x2="64571" y2="38909"/>
                        <a14:foregroundMark x1="61857" y1="39758" x2="62786" y2="47636"/>
                        <a14:foregroundMark x1="62643" y1="49091" x2="62643" y2="41333"/>
                        <a14:foregroundMark x1="62429" y1="48727" x2="62357" y2="53697"/>
                        <a14:foregroundMark x1="49000" y1="66424" x2="49643" y2="58545"/>
                        <a14:foregroundMark x1="48429" y1="61091" x2="48643" y2="60000"/>
                        <a14:foregroundMark x1="48714" y1="60727" x2="49929" y2="58424"/>
                        <a14:foregroundMark x1="49571" y1="58545" x2="50857" y2="60606"/>
                        <a14:foregroundMark x1="50786" y1="60727" x2="50143" y2="64242"/>
                        <a14:foregroundMark x1="49929" y1="63152" x2="49929" y2="67515"/>
                        <a14:foregroundMark x1="48714" y1="67394" x2="49929" y2="67758"/>
                        <a14:foregroundMark x1="12571" y1="69939" x2="8214" y2="70788"/>
                        <a14:foregroundMark x1="7714" y1="71515" x2="8071" y2="71879"/>
                        <a14:foregroundMark x1="7714" y1="72727" x2="7786" y2="73576"/>
                        <a14:foregroundMark x1="7643" y1="73455" x2="7571" y2="76242"/>
                        <a14:foregroundMark x1="7571" y1="75758" x2="6857" y2="85818"/>
                        <a14:foregroundMark x1="6857" y1="85818" x2="12000" y2="89818"/>
                        <a14:foregroundMark x1="12000" y1="89818" x2="17214" y2="88000"/>
                        <a14:foregroundMark x1="17214" y1="88000" x2="18000" y2="78545"/>
                        <a14:foregroundMark x1="18000" y1="78545" x2="16071" y2="70061"/>
                        <a14:foregroundMark x1="16071" y1="70061" x2="10571" y2="68000"/>
                        <a14:foregroundMark x1="10571" y1="68000" x2="7286" y2="75152"/>
                        <a14:foregroundMark x1="7286" y1="75152" x2="7286" y2="76242"/>
                        <a14:foregroundMark x1="9214" y1="90788" x2="3571" y2="91030"/>
                        <a14:foregroundMark x1="3571" y1="91030" x2="8571" y2="95273"/>
                        <a14:foregroundMark x1="8571" y1="95273" x2="14500" y2="96364"/>
                        <a14:foregroundMark x1="14500" y1="96364" x2="19929" y2="95758"/>
                        <a14:foregroundMark x1="19929" y1="95758" x2="14857" y2="89939"/>
                        <a14:foregroundMark x1="14857" y1="89939" x2="9571" y2="89212"/>
                        <a14:foregroundMark x1="9571" y1="89212" x2="8071" y2="90061"/>
                        <a14:foregroundMark x1="17143" y1="91879" x2="17571" y2="92242"/>
                        <a14:foregroundMark x1="19357" y1="95273" x2="19500" y2="95030"/>
                        <a14:foregroundMark x1="19571" y1="95758" x2="19714" y2="94909"/>
                        <a14:foregroundMark x1="19500" y1="94424" x2="19214" y2="92121"/>
                        <a14:foregroundMark x1="19571" y1="94182" x2="19357" y2="91394"/>
                        <a14:foregroundMark x1="19571" y1="92121" x2="16929" y2="91273"/>
                        <a14:foregroundMark x1="4286" y1="92606" x2="4214" y2="93939"/>
                        <a14:foregroundMark x1="4286" y1="93939" x2="6071" y2="94788"/>
                        <a14:foregroundMark x1="19500" y1="95515" x2="19714" y2="92242"/>
                        <a14:foregroundMark x1="9286" y1="38788" x2="4857" y2="37939"/>
                        <a14:foregroundMark x1="19214" y1="47030" x2="19714" y2="55879"/>
                        <a14:foregroundMark x1="16857" y1="56000" x2="19357" y2="56121"/>
                        <a14:foregroundMark x1="62500" y1="53818" x2="59143" y2="55394"/>
                        <a14:foregroundMark x1="62357" y1="53939" x2="61571" y2="55515"/>
                        <a14:foregroundMark x1="61786" y1="55394" x2="59357" y2="55758"/>
                        <a14:foregroundMark x1="12071" y1="65576" x2="12357" y2="62667"/>
                        <a14:foregroundMark x1="12571" y1="64606" x2="12357" y2="64000"/>
                        <a14:foregroundMark x1="11643" y1="57697" x2="11786" y2="58182"/>
                        <a14:foregroundMark x1="12214" y1="58545" x2="11500" y2="58545"/>
                        <a14:foregroundMark x1="11714" y1="67879" x2="13214" y2="64485"/>
                        <a14:foregroundMark x1="11500" y1="67273" x2="10571" y2="64727"/>
                        <a14:foregroundMark x1="11071" y1="64848" x2="11286" y2="58667"/>
                        <a14:foregroundMark x1="13143" y1="64727" x2="12857" y2="57939"/>
                        <a14:backgroundMark x1="10643" y1="7273" x2="11000" y2="14909"/>
                        <a14:backgroundMark x1="11286" y1="14424" x2="11143" y2="16848"/>
                        <a14:backgroundMark x1="57786" y1="24242" x2="52357" y2="24121"/>
                        <a14:backgroundMark x1="52357" y1="24121" x2="58000" y2="23879"/>
                        <a14:backgroundMark x1="58000" y1="23879" x2="58071" y2="23879"/>
                        <a14:backgroundMark x1="61143" y1="23030" x2="59071" y2="23394"/>
                        <a14:backgroundMark x1="62071" y1="22788" x2="60071" y2="23273"/>
                        <a14:backgroundMark x1="61429" y1="22545" x2="67286" y2="23030"/>
                        <a14:backgroundMark x1="67286" y1="23030" x2="68214" y2="23030"/>
                        <a14:backgroundMark x1="59357" y1="23273" x2="57500" y2="23152"/>
                        <a14:backgroundMark x1="55929" y1="22788" x2="34714" y2="22182"/>
                        <a14:backgroundMark x1="68786" y1="22545" x2="68786" y2="22545"/>
                        <a14:backgroundMark x1="68643" y1="22667" x2="68500" y2="22545"/>
                        <a14:backgroundMark x1="34357" y1="22182" x2="33643" y2="22545"/>
                        <a14:backgroundMark x1="35714" y1="22303" x2="32714" y2="22667"/>
                        <a14:backgroundMark x1="69786" y1="22788" x2="68857" y2="22545"/>
                        <a14:backgroundMark x1="32727" y1="76551" x2="20571" y2="75515"/>
                        <a14:backgroundMark x1="34774" y1="76725" x2="34029" y2="76662"/>
                        <a14:backgroundMark x1="21113" y1="80639" x2="21571" y2="84970"/>
                        <a14:backgroundMark x1="20711" y1="76836" x2="20977" y2="79355"/>
                        <a14:backgroundMark x1="20571" y1="75515" x2="20669" y2="76442"/>
                        <a14:backgroundMark x1="21571" y1="84970" x2="28714" y2="86667"/>
                        <a14:backgroundMark x1="28714" y1="86667" x2="35143" y2="85212"/>
                        <a14:backgroundMark x1="35143" y1="85212" x2="39267" y2="81666"/>
                        <a14:backgroundMark x1="35228" y1="76679" x2="34500" y2="76606"/>
                        <a14:backgroundMark x1="79571" y1="39879" x2="79500" y2="532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000" y="1289791"/>
            <a:ext cx="9001999" cy="530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00B0F9-CC6A-4888-546C-E0627629A246}"/>
              </a:ext>
            </a:extLst>
          </p:cNvPr>
          <p:cNvSpPr txBox="1"/>
          <p:nvPr/>
        </p:nvSpPr>
        <p:spPr>
          <a:xfrm>
            <a:off x="1908267" y="6471364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hlinkClick r:id="rId4"/>
              </a:rPr>
              <a:t>Medium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359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3635EB47-113B-8A02-7034-3E4229A28FE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200" y="1825625"/>
            <a:ext cx="5257800" cy="3608388"/>
          </a:xfrm>
        </p:spPr>
        <p:txBody>
          <a:bodyPr/>
          <a:lstStyle/>
          <a:p>
            <a:r>
              <a:rPr lang="en-US" dirty="0"/>
              <a:t>Other options:</a:t>
            </a:r>
          </a:p>
          <a:p>
            <a:pPr lvl="1"/>
            <a:r>
              <a:rPr lang="en-US" dirty="0"/>
              <a:t>Notebook LM</a:t>
            </a:r>
          </a:p>
          <a:p>
            <a:pPr lvl="1"/>
            <a:r>
              <a:rPr lang="en-US" dirty="0"/>
              <a:t>ChatGPT application</a:t>
            </a:r>
          </a:p>
          <a:p>
            <a:r>
              <a:rPr lang="en-US" dirty="0"/>
              <a:t>Advantages of developing your own:</a:t>
            </a:r>
          </a:p>
          <a:p>
            <a:pPr lvl="1"/>
            <a:r>
              <a:rPr lang="en-US" dirty="0"/>
              <a:t>Greater customization</a:t>
            </a:r>
          </a:p>
          <a:p>
            <a:pPr lvl="1"/>
            <a:r>
              <a:rPr lang="en-US" dirty="0"/>
              <a:t>Data privacy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CCEC196D-F831-1B63-C1E2-C6B6B92B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5"/>
            <a:ext cx="6904808" cy="690677"/>
          </a:xfrm>
        </p:spPr>
        <p:txBody>
          <a:bodyPr/>
          <a:lstStyle/>
          <a:p>
            <a:r>
              <a:rPr lang="en-US" dirty="0"/>
              <a:t>RAG on Engaging</a:t>
            </a:r>
          </a:p>
        </p:txBody>
      </p:sp>
      <p:pic>
        <p:nvPicPr>
          <p:cNvPr id="1028" name="Picture 4" descr="Elevate Your Note-Taking with Google NotebookLM's New AI Conversations">
            <a:extLst>
              <a:ext uri="{FF2B5EF4-FFF2-40B4-BE49-F238E27FC236}">
                <a16:creationId xmlns:a16="http://schemas.microsoft.com/office/drawing/2014/main" id="{81883F19-B78E-FC6B-21F1-A6947330C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90173"/>
            <a:ext cx="5160330" cy="2902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atGPT expands Deep Research to more users | Digital Watch Observatory">
            <a:extLst>
              <a:ext uri="{FF2B5EF4-FFF2-40B4-BE49-F238E27FC236}">
                <a16:creationId xmlns:a16="http://schemas.microsoft.com/office/drawing/2014/main" id="{E63E7BAF-5F49-6FF5-081E-60C61E76F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521" y="3429000"/>
            <a:ext cx="4159405" cy="233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24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DBD8-60C8-466B-9F5F-16D4D7B08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51A8-488F-6C3B-57F8-1EC3F045F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Stores</a:t>
            </a:r>
          </a:p>
        </p:txBody>
      </p:sp>
      <p:pic>
        <p:nvPicPr>
          <p:cNvPr id="6146" name="Picture 2" descr="All You Need to Know about Vector Databases and How to Use Them to Augment  Your LLM Apps | by Dominik Polzer | TDS Archive | Medium">
            <a:extLst>
              <a:ext uri="{FF2B5EF4-FFF2-40B4-BE49-F238E27FC236}">
                <a16:creationId xmlns:a16="http://schemas.microsoft.com/office/drawing/2014/main" id="{7A893D79-190A-5FB0-034C-D769350B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7914"/>
            <a:ext cx="12192000" cy="441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617418-365B-946A-A1C5-C30E0EEFC080}"/>
              </a:ext>
            </a:extLst>
          </p:cNvPr>
          <p:cNvSpPr txBox="1"/>
          <p:nvPr/>
        </p:nvSpPr>
        <p:spPr>
          <a:xfrm>
            <a:off x="518240" y="5517885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hlinkClick r:id="rId4"/>
              </a:rPr>
              <a:t>Medium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4E791-EB58-E66B-DA20-CB32225F2740}"/>
              </a:ext>
            </a:extLst>
          </p:cNvPr>
          <p:cNvSpPr txBox="1"/>
          <p:nvPr/>
        </p:nvSpPr>
        <p:spPr>
          <a:xfrm>
            <a:off x="0" y="3210579"/>
            <a:ext cx="14765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Documents (PDFs, .md files, etc.)</a:t>
            </a:r>
          </a:p>
        </p:txBody>
      </p:sp>
    </p:spTree>
    <p:extLst>
      <p:ext uri="{BB962C8B-B14F-4D97-AF65-F5344CB8AC3E}">
        <p14:creationId xmlns:p14="http://schemas.microsoft.com/office/powerpoint/2010/main" val="330107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D2B2-EB12-4484-2582-20590EF6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Stores</a:t>
            </a:r>
          </a:p>
        </p:txBody>
      </p:sp>
      <p:pic>
        <p:nvPicPr>
          <p:cNvPr id="4098" name="Picture 2" descr="Vector stores | 🦜️🔗 LangChain">
            <a:extLst>
              <a:ext uri="{FF2B5EF4-FFF2-40B4-BE49-F238E27FC236}">
                <a16:creationId xmlns:a16="http://schemas.microsoft.com/office/drawing/2014/main" id="{291AB4CB-CDC3-59BF-FB9D-E632356B1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181" y="1472685"/>
            <a:ext cx="8021637" cy="511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904DEC-ED73-C241-1DBA-2032968BED4E}"/>
              </a:ext>
            </a:extLst>
          </p:cNvPr>
          <p:cNvSpPr txBox="1"/>
          <p:nvPr/>
        </p:nvSpPr>
        <p:spPr>
          <a:xfrm>
            <a:off x="2085181" y="6328245"/>
            <a:ext cx="8691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hlinkClick r:id="rId3"/>
              </a:rPr>
              <a:t>LangChain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414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A8B51-C898-FB1C-903F-CAA17120E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a </a:t>
            </a:r>
            <a:r>
              <a:rPr lang="en-US" dirty="0" err="1"/>
              <a:t>Jupyter</a:t>
            </a:r>
            <a:r>
              <a:rPr lang="en-US" dirty="0"/>
              <a:t> session on </a:t>
            </a:r>
            <a:r>
              <a:rPr lang="en-US" dirty="0" err="1"/>
              <a:t>orcd-ood.mit.edu</a:t>
            </a:r>
            <a:endParaRPr lang="en-US" dirty="0"/>
          </a:p>
          <a:p>
            <a:pPr lvl="1"/>
            <a:r>
              <a:rPr lang="en-US" dirty="0"/>
              <a:t>4 CPU cores</a:t>
            </a:r>
          </a:p>
          <a:p>
            <a:pPr lvl="1"/>
            <a:r>
              <a:rPr lang="en-US" dirty="0"/>
              <a:t>16GB memory</a:t>
            </a:r>
          </a:p>
          <a:p>
            <a:pPr lvl="1"/>
            <a:r>
              <a:rPr lang="en-US" dirty="0"/>
              <a:t>Allocate GPU</a:t>
            </a:r>
          </a:p>
          <a:p>
            <a:r>
              <a:rPr lang="en-US" dirty="0"/>
              <a:t>Clone this GitHub repository: </a:t>
            </a:r>
            <a:r>
              <a:rPr lang="en-US" dirty="0">
                <a:hlinkClick r:id="rId2"/>
              </a:rPr>
              <a:t>https://github.com/mitdbg/practical-programming-with-data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87D55-5712-5E45-F651-B65E704DD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</a:t>
            </a:r>
          </a:p>
        </p:txBody>
      </p:sp>
    </p:spTree>
    <p:extLst>
      <p:ext uri="{BB962C8B-B14F-4D97-AF65-F5344CB8AC3E}">
        <p14:creationId xmlns:p14="http://schemas.microsoft.com/office/powerpoint/2010/main" val="3714576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5602D2-2971-C3F1-B627-7639AFF43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B06822-0016-A53C-918B-78DE84B20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>
                <a:hlinkClick r:id="rId2"/>
              </a:rPr>
              <a:t>HuggingFace account</a:t>
            </a:r>
            <a:endParaRPr lang="en-US" dirty="0"/>
          </a:p>
          <a:p>
            <a:r>
              <a:rPr lang="en-US" dirty="0"/>
              <a:t>Request access to </a:t>
            </a:r>
            <a:r>
              <a:rPr lang="en-US" dirty="0">
                <a:hlinkClick r:id="rId3"/>
              </a:rPr>
              <a:t>mistralai/Ministral-8B-Instruct-2410</a:t>
            </a:r>
            <a:endParaRPr lang="en-US" dirty="0"/>
          </a:p>
          <a:p>
            <a:r>
              <a:rPr lang="en-US" dirty="0"/>
              <a:t>Create a </a:t>
            </a:r>
            <a:r>
              <a:rPr lang="en-US" dirty="0">
                <a:hlinkClick r:id="rId4"/>
              </a:rPr>
              <a:t>user access token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2FC375-E143-C52C-48F3-66A4A7D2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Accessing </a:t>
            </a:r>
            <a:r>
              <a:rPr lang="en-US" dirty="0" err="1">
                <a:solidFill>
                  <a:schemeClr val="tx1"/>
                </a:solidFill>
              </a:rPr>
              <a:t>HuggingFace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763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345D8D-5756-1264-7D7F-01D2E11F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Edit HF Access Token Permissions</a:t>
            </a:r>
          </a:p>
        </p:txBody>
      </p:sp>
      <p:pic>
        <p:nvPicPr>
          <p:cNvPr id="3074" name="Picture 2" descr="HF token permission settings">
            <a:extLst>
              <a:ext uri="{FF2B5EF4-FFF2-40B4-BE49-F238E27FC236}">
                <a16:creationId xmlns:a16="http://schemas.microsoft.com/office/drawing/2014/main" id="{1B7420D9-7E17-3C0A-5ACD-9AE1F9C421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1608411"/>
            <a:ext cx="9372600" cy="498606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188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3776A2-3DC2-1D53-32E9-6B6F9552E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 ssh &lt;username&gt;@orcd-login002.mit.edu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-N 1 -n 8 -p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mit_normal_gpu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-G l40s:1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1E7F34-E367-0211-3767-E3598034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Requesting Resources on Engaging</a:t>
            </a:r>
          </a:p>
        </p:txBody>
      </p:sp>
    </p:spTree>
    <p:extLst>
      <p:ext uri="{BB962C8B-B14F-4D97-AF65-F5344CB8AC3E}">
        <p14:creationId xmlns:p14="http://schemas.microsoft.com/office/powerpoint/2010/main" val="2994253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BEB6C9-A103-F8E2-80AA-BD5F6E29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CE9E-8382-7A21-A47E-E42D9C40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Using Containers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E8E3B-DAC1-1804-A454-2F4DCB94A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670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1F186-7435-A4D7-6752-3AD4C4C43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Example on ORCD Documentation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02766-37FF-51E5-77F1-AB7B17505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03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6D9EC1-85D7-1454-ED3B-5ECDA60C2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C23B5-23DA-9723-EA2F-00549005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Creating a Vector Store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BE421-1E5B-B0EE-251A-B01E600D2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F664CE-EF9D-ADFB-B19C-4CCD15F06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792F-B6C4-6D15-B896-9900F1E7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Running 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63BD3-07BE-1C16-B924-79D06ED92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90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T ORC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2A79D"/>
      </a:accent1>
      <a:accent2>
        <a:srgbClr val="F7941D"/>
      </a:accent2>
      <a:accent3>
        <a:srgbClr val="662C91"/>
      </a:accent3>
      <a:accent4>
        <a:srgbClr val="099344"/>
      </a:accent4>
      <a:accent5>
        <a:srgbClr val="00AEEE"/>
      </a:accent5>
      <a:accent6>
        <a:srgbClr val="0E74BC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51A2862CB3E44487EC5BBB602B99D8" ma:contentTypeVersion="14" ma:contentTypeDescription="Create a new document." ma:contentTypeScope="" ma:versionID="9c2cd4caf6edd9088d0e2173603054f1">
  <xsd:schema xmlns:xsd="http://www.w3.org/2001/XMLSchema" xmlns:xs="http://www.w3.org/2001/XMLSchema" xmlns:p="http://schemas.microsoft.com/office/2006/metadata/properties" xmlns:ns2="c81c0b09-02bf-4452-ac20-a96ae60626b6" xmlns:ns3="6d361717-3fb6-4cb7-9762-96e1a06ae24d" targetNamespace="http://schemas.microsoft.com/office/2006/metadata/properties" ma:root="true" ma:fieldsID="91170394fee5cd125af77119e4041aed" ns2:_="" ns3:_="">
    <xsd:import namespace="c81c0b09-02bf-4452-ac20-a96ae60626b6"/>
    <xsd:import namespace="6d361717-3fb6-4cb7-9762-96e1a06ae2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1c0b09-02bf-4452-ac20-a96ae60626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d3350ec4-10e3-4b5d-9666-7d76f34ba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361717-3fb6-4cb7-9762-96e1a06ae24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b1f5045-9c8e-4b7c-a279-e228cbc5f592}" ma:internalName="TaxCatchAll" ma:showField="CatchAllData" ma:web="6d361717-3fb6-4cb7-9762-96e1a06ae2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361717-3fb6-4cb7-9762-96e1a06ae24d" xsi:nil="true"/>
    <lcf76f155ced4ddcb4097134ff3c332f xmlns="c81c0b09-02bf-4452-ac20-a96ae60626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A237D2A-AA01-40BE-B797-E75AE82EA3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081E17-C736-48F5-8ED5-F086907A3D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1c0b09-02bf-4452-ac20-a96ae60626b6"/>
    <ds:schemaRef ds:uri="6d361717-3fb6-4cb7-9762-96e1a06ae2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2479D70-1C23-454E-ADBF-1BD434422971}">
  <ds:schemaRefs>
    <ds:schemaRef ds:uri="http://schemas.microsoft.com/office/2006/metadata/properties"/>
    <ds:schemaRef ds:uri="http://schemas.microsoft.com/office/infopath/2007/PartnerControls"/>
    <ds:schemaRef ds:uri="6d361717-3fb6-4cb7-9762-96e1a06ae24d"/>
    <ds:schemaRef ds:uri="c81c0b09-02bf-4452-ac20-a96ae60626b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31883</TotalTime>
  <Words>163</Words>
  <Application>Microsoft Macintosh PowerPoint</Application>
  <PresentationFormat>Widescreen</PresentationFormat>
  <Paragraphs>38</Paragraphs>
  <Slides>14</Slides>
  <Notes>3</Notes>
  <HiddenSlides>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Neue Haas Grotesk Text Pro</vt:lpstr>
      <vt:lpstr>Office Theme</vt:lpstr>
      <vt:lpstr>Building a RAG Pipeline on Engaging</vt:lpstr>
      <vt:lpstr>Preparation</vt:lpstr>
      <vt:lpstr>What is RAG?</vt:lpstr>
      <vt:lpstr>RAG on Engaging</vt:lpstr>
      <vt:lpstr>Vector Stores</vt:lpstr>
      <vt:lpstr>Vector Stores</vt:lpstr>
      <vt:lpstr>Setting up</vt:lpstr>
      <vt:lpstr>Accessing HuggingFace</vt:lpstr>
      <vt:lpstr>Edit HF Access Token Permissions</vt:lpstr>
      <vt:lpstr>Requesting Resources on Engaging</vt:lpstr>
      <vt:lpstr>Using Containers</vt:lpstr>
      <vt:lpstr>Example on ORCD Documentation</vt:lpstr>
      <vt:lpstr>Creating a Vector Store</vt:lpstr>
      <vt:lpstr>Running RAG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Ashleigh Eason</dc:creator>
  <cp:lastModifiedBy>Sam Corey</cp:lastModifiedBy>
  <cp:revision>36</cp:revision>
  <dcterms:created xsi:type="dcterms:W3CDTF">2023-10-17T16:46:02Z</dcterms:created>
  <dcterms:modified xsi:type="dcterms:W3CDTF">2026-01-21T22:00:49Z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0x0101004251A2862CB3E44487EC5BBB602B99D8</vt:lpwstr>
  </property>
</Properties>
</file>